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57" r:id="rId3"/>
    <p:sldId id="258" r:id="rId4"/>
    <p:sldId id="265" r:id="rId5"/>
    <p:sldId id="259" r:id="rId6"/>
    <p:sldId id="260" r:id="rId7"/>
    <p:sldId id="261" r:id="rId8"/>
    <p:sldId id="262" r:id="rId9"/>
    <p:sldId id="263"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33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2" cstate="print"/>
          <a:srcRect t="33333"/>
          <a:stretch>
            <a:fillRect/>
          </a:stretch>
        </p:blipFill>
        <p:spPr>
          <a:xfrm>
            <a:off x="0" y="0"/>
            <a:ext cx="9144000" cy="4572000"/>
          </a:xfrm>
          <a:prstGeom prst="rect">
            <a:avLst/>
          </a:prstGeom>
        </p:spPr>
      </p:pic>
      <p:sp>
        <p:nvSpPr>
          <p:cNvPr id="4" name="Date Placeholder 3"/>
          <p:cNvSpPr>
            <a:spLocks noGrp="1"/>
          </p:cNvSpPr>
          <p:nvPr>
            <p:ph type="dt" sz="half" idx="10"/>
          </p:nvPr>
        </p:nvSpPr>
        <p:spPr/>
        <p:txBody>
          <a:bodyPr/>
          <a:lstStyle/>
          <a:p>
            <a:fld id="{221A67B1-30D4-4E61-9586-F7B73FE33CB1}" type="datetimeFigureOut">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537236-B35C-429F-8DA7-0CCD6C1ED4BF}" type="slidenum">
              <a:rPr lang="en-US" smtClean="0"/>
              <a:t>‹#›</a:t>
            </a:fld>
            <a:endParaRPr lang="en-US"/>
          </a:p>
        </p:txBody>
      </p:sp>
      <p:sp>
        <p:nvSpPr>
          <p:cNvPr id="3" name="Subtitle 2"/>
          <p:cNvSpPr>
            <a:spLocks noGrp="1"/>
          </p:cNvSpPr>
          <p:nvPr>
            <p:ph type="subTitle" idx="1"/>
          </p:nvPr>
        </p:nvSpPr>
        <p:spPr>
          <a:xfrm>
            <a:off x="1219200" y="3886200"/>
            <a:ext cx="6400800" cy="1752600"/>
          </a:xfrm>
        </p:spPr>
        <p:txBody>
          <a:bodyPr>
            <a:normAutofit/>
          </a:bodyPr>
          <a:lstStyle>
            <a:lvl1pPr marL="0" indent="0" algn="ctr">
              <a:buNone/>
              <a:defRPr sz="17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685800" y="2007888"/>
            <a:ext cx="7772400" cy="1470025"/>
          </a:xfrm>
        </p:spPr>
        <p:txBody>
          <a:bodyPr/>
          <a:lstStyle>
            <a:lvl1pPr algn="ctr">
              <a:defRPr sz="320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221A67B1-30D4-4E61-9586-F7B73FE33CB1}" type="datetimeFigureOut">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537236-B35C-429F-8DA7-0CCD6C1ED4BF}" type="slidenum">
              <a:rPr lang="en-US" smtClean="0"/>
              <a:t>‹#›</a:t>
            </a:fld>
            <a:endParaRPr lang="en-US"/>
          </a:p>
        </p:txBody>
      </p:sp>
      <p:sp>
        <p:nvSpPr>
          <p:cNvPr id="8" name="Content Placeholder 7"/>
          <p:cNvSpPr>
            <a:spLocks noGrp="1"/>
          </p:cNvSpPr>
          <p:nvPr>
            <p:ph sz="quarter" idx="13"/>
          </p:nvPr>
        </p:nvSpPr>
        <p:spPr>
          <a:xfrm>
            <a:off x="609600" y="1600200"/>
            <a:ext cx="79248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962525"/>
            <a:ext cx="7885113" cy="1362075"/>
          </a:xfrm>
        </p:spPr>
        <p:txBody>
          <a:bodyPr anchor="t"/>
          <a:lstStyle>
            <a:lvl1pPr algn="l">
              <a:defRPr sz="3200" b="0" i="0" cap="all" baseline="0"/>
            </a:lvl1pPr>
          </a:lstStyle>
          <a:p>
            <a:r>
              <a:rPr lang="en-US"/>
              <a:t>Click to edit Master title style</a:t>
            </a:r>
            <a:endParaRPr lang="en-US" dirty="0"/>
          </a:p>
        </p:txBody>
      </p:sp>
      <p:sp>
        <p:nvSpPr>
          <p:cNvPr id="3" name="Text Placeholder 2"/>
          <p:cNvSpPr>
            <a:spLocks noGrp="1"/>
          </p:cNvSpPr>
          <p:nvPr>
            <p:ph type="body" idx="1"/>
          </p:nvPr>
        </p:nvSpPr>
        <p:spPr>
          <a:xfrm>
            <a:off x="609600" y="3462338"/>
            <a:ext cx="7885113" cy="1500187"/>
          </a:xfrm>
        </p:spPr>
        <p:txBody>
          <a:bodyPr anchor="b">
            <a:normAutofit/>
          </a:bodyPr>
          <a:lstStyle>
            <a:lvl1pPr marL="0" indent="0">
              <a:buNone/>
              <a:defRPr sz="170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1A67B1-30D4-4E61-9586-F7B73FE33CB1}" type="datetimeFigureOut">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537236-B35C-429F-8DA7-0CCD6C1ED4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Content Placeholder 10"/>
          <p:cNvSpPr>
            <a:spLocks noGrp="1"/>
          </p:cNvSpPr>
          <p:nvPr>
            <p:ph sz="quarter" idx="13"/>
          </p:nvPr>
        </p:nvSpPr>
        <p:spPr>
          <a:xfrm>
            <a:off x="609600" y="1600200"/>
            <a:ext cx="3733800" cy="4114800"/>
          </a:xfrm>
        </p:spPr>
        <p:txBody>
          <a:bodyPr/>
          <a:lstStyle>
            <a:lvl5pPr>
              <a:defRPr/>
            </a:lvl5pPr>
            <a:lvl6pPr>
              <a:buClr>
                <a:schemeClr val="tx2"/>
              </a:buClr>
              <a:buFont typeface="Arial" pitchFamily="34" charset="0"/>
              <a:buChar char="•"/>
              <a:defRPr/>
            </a:lvl6pPr>
            <a:lvl7pPr>
              <a:buClr>
                <a:schemeClr val="tx2"/>
              </a:buClr>
              <a:buFont typeface="Arial" pitchFamily="34" charset="0"/>
              <a:buChar char="•"/>
              <a:defRPr/>
            </a:lvl7pPr>
            <a:lvl8pPr>
              <a:buClr>
                <a:schemeClr val="tx2"/>
              </a:buClr>
              <a:buFont typeface="Arial" pitchFamily="34" charset="0"/>
              <a:buChar char="•"/>
              <a:defRPr/>
            </a:lvl8pPr>
            <a:lvl9pPr>
              <a:buClr>
                <a:schemeClr val="tx2"/>
              </a:buCl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800600" y="1600200"/>
            <a:ext cx="3733800" cy="41148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221A67B1-30D4-4E61-9586-F7B73FE33CB1}" type="datetimeFigureOut">
              <a:rPr lang="en-US" smtClean="0"/>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537236-B35C-429F-8DA7-0CCD6C1ED4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3" name="Content Placeholder 12"/>
          <p:cNvSpPr>
            <a:spLocks noGrp="1"/>
          </p:cNvSpPr>
          <p:nvPr>
            <p:ph sz="quarter" idx="14"/>
          </p:nvPr>
        </p:nvSpPr>
        <p:spPr>
          <a:xfrm>
            <a:off x="4800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3"/>
          </p:nvPr>
        </p:nvSpPr>
        <p:spPr>
          <a:xfrm>
            <a:off x="609600" y="2209800"/>
            <a:ext cx="3733800" cy="3505200"/>
          </a:xfrm>
        </p:spPr>
        <p:txBody>
          <a:bodyPr/>
          <a:lstStyle>
            <a:lvl6pPr>
              <a:buClr>
                <a:schemeClr val="tx2"/>
              </a:buClr>
              <a:defRPr/>
            </a:lvl6pPr>
            <a:lvl7pPr>
              <a:buClr>
                <a:schemeClr val="tx2"/>
              </a:buClr>
              <a:defRPr/>
            </a:lvl7pPr>
            <a:lvl8pPr>
              <a:buClr>
                <a:schemeClr val="tx2"/>
              </a:buClr>
              <a:defRPr/>
            </a:lvl8pPr>
            <a:lvl9pPr>
              <a:buClr>
                <a:schemeClr val="tx2"/>
              </a:buCl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09600" y="274638"/>
            <a:ext cx="7924800" cy="11430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800600" y="1600199"/>
            <a:ext cx="3733800" cy="574675"/>
          </a:xfrm>
        </p:spPr>
        <p:txBody>
          <a:bodyPr anchor="b">
            <a:normAutofit/>
          </a:bodyPr>
          <a:lstStyle>
            <a:lvl1pPr marL="0" indent="0">
              <a:buNone/>
              <a:defRPr sz="1700" b="0" i="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221A67B1-30D4-4E61-9586-F7B73FE33CB1}" type="datetimeFigureOut">
              <a:rPr lang="en-US" smtClean="0"/>
              <a:t>5/25/2022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6537236-B35C-429F-8DA7-0CCD6C1ED4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924800" cy="11430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1A67B1-30D4-4E61-9586-F7B73FE33CB1}" type="datetimeFigureOut">
              <a:rPr lang="en-US" smtClean="0"/>
              <a:t>5/25/2022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6537236-B35C-429F-8DA7-0CCD6C1ED4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1A67B1-30D4-4E61-9586-F7B73FE33CB1}" type="datetimeFigureOut">
              <a:rPr lang="en-US" smtClean="0"/>
              <a:t>5/25/2022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6537236-B35C-429F-8DA7-0CCD6C1ED4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3962400" y="1447800"/>
            <a:ext cx="46482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p:nvPr>
        </p:nvSpPr>
        <p:spPr>
          <a:xfrm>
            <a:off x="612648" y="1447800"/>
            <a:ext cx="29718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612648" y="2547891"/>
            <a:ext cx="2971800" cy="3167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1A67B1-30D4-4E61-9586-F7B73FE33CB1}" type="datetimeFigureOut">
              <a:rPr lang="en-US" smtClean="0"/>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537236-B35C-429F-8DA7-0CCD6C1ED4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11" name="Picture 10" descr="horizon.png"/>
          <p:cNvPicPr>
            <a:picLocks noChangeAspect="1"/>
          </p:cNvPicPr>
          <p:nvPr/>
        </p:nvPicPr>
        <p:blipFill>
          <a:blip r:embed="rId2" cstate="print"/>
          <a:stretch>
            <a:fillRect/>
          </a:stretch>
        </p:blipFill>
        <p:spPr>
          <a:xfrm>
            <a:off x="0" y="0"/>
            <a:ext cx="9144000" cy="6858000"/>
          </a:xfrm>
          <a:prstGeom prst="rect">
            <a:avLst/>
          </a:prstGeom>
        </p:spPr>
      </p:pic>
      <p:sp>
        <p:nvSpPr>
          <p:cNvPr id="2" name="Title 1"/>
          <p:cNvSpPr>
            <a:spLocks noGrp="1"/>
          </p:cNvSpPr>
          <p:nvPr>
            <p:ph type="title"/>
          </p:nvPr>
        </p:nvSpPr>
        <p:spPr>
          <a:xfrm>
            <a:off x="609600" y="1447800"/>
            <a:ext cx="2971800" cy="1097280"/>
          </a:xfrm>
        </p:spPr>
        <p:txBody>
          <a:bodyPr anchor="b"/>
          <a:lstStyle>
            <a:lvl1pPr algn="l">
              <a:defRPr sz="1800" b="0" i="0" cap="none" baseline="0">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4657344" y="1447800"/>
            <a:ext cx="3419856" cy="3474720"/>
          </a:xfrm>
          <a:custGeom>
            <a:avLst/>
            <a:gdLst>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74450 w 3419856"/>
              <a:gd name="connsiteY9" fmla="*/ 3429000 h 3429000"/>
              <a:gd name="connsiteX10" fmla="*/ 21806 w 3419856"/>
              <a:gd name="connsiteY10" fmla="*/ 3407194 h 3429000"/>
              <a:gd name="connsiteX11" fmla="*/ 0 w 3419856"/>
              <a:gd name="connsiteY11" fmla="*/ 3354550 h 3429000"/>
              <a:gd name="connsiteX12" fmla="*/ 0 w 3419856"/>
              <a:gd name="connsiteY12" fmla="*/ 74450 h 3429000"/>
              <a:gd name="connsiteX0" fmla="*/ 0 w 3419856"/>
              <a:gd name="connsiteY0" fmla="*/ 74450 h 3429000"/>
              <a:gd name="connsiteX1" fmla="*/ 21806 w 3419856"/>
              <a:gd name="connsiteY1" fmla="*/ 21806 h 3429000"/>
              <a:gd name="connsiteX2" fmla="*/ 74450 w 3419856"/>
              <a:gd name="connsiteY2" fmla="*/ 0 h 3429000"/>
              <a:gd name="connsiteX3" fmla="*/ 3345406 w 3419856"/>
              <a:gd name="connsiteY3" fmla="*/ 0 h 3429000"/>
              <a:gd name="connsiteX4" fmla="*/ 3398050 w 3419856"/>
              <a:gd name="connsiteY4" fmla="*/ 21806 h 3429000"/>
              <a:gd name="connsiteX5" fmla="*/ 3419856 w 3419856"/>
              <a:gd name="connsiteY5" fmla="*/ 74450 h 3429000"/>
              <a:gd name="connsiteX6" fmla="*/ 3419856 w 3419856"/>
              <a:gd name="connsiteY6" fmla="*/ 3354550 h 3429000"/>
              <a:gd name="connsiteX7" fmla="*/ 3398050 w 3419856"/>
              <a:gd name="connsiteY7" fmla="*/ 3407194 h 3429000"/>
              <a:gd name="connsiteX8" fmla="*/ 3345406 w 3419856"/>
              <a:gd name="connsiteY8" fmla="*/ 3429000 h 3429000"/>
              <a:gd name="connsiteX9" fmla="*/ 21806 w 3419856"/>
              <a:gd name="connsiteY9" fmla="*/ 3407194 h 3429000"/>
              <a:gd name="connsiteX10" fmla="*/ 0 w 3419856"/>
              <a:gd name="connsiteY10" fmla="*/ 3354550 h 3429000"/>
              <a:gd name="connsiteX11" fmla="*/ 0 w 3419856"/>
              <a:gd name="connsiteY11" fmla="*/ 74450 h 3429000"/>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4392"/>
              <a:gd name="connsiteY0" fmla="*/ 74450 h 3415968"/>
              <a:gd name="connsiteX1" fmla="*/ 21806 w 3964392"/>
              <a:gd name="connsiteY1" fmla="*/ 21806 h 3415968"/>
              <a:gd name="connsiteX2" fmla="*/ 74450 w 3964392"/>
              <a:gd name="connsiteY2" fmla="*/ 0 h 3415968"/>
              <a:gd name="connsiteX3" fmla="*/ 3345406 w 3964392"/>
              <a:gd name="connsiteY3" fmla="*/ 0 h 3415968"/>
              <a:gd name="connsiteX4" fmla="*/ 3398050 w 3964392"/>
              <a:gd name="connsiteY4" fmla="*/ 21806 h 3415968"/>
              <a:gd name="connsiteX5" fmla="*/ 3419856 w 3964392"/>
              <a:gd name="connsiteY5" fmla="*/ 74450 h 3415968"/>
              <a:gd name="connsiteX6" fmla="*/ 3419856 w 3964392"/>
              <a:gd name="connsiteY6" fmla="*/ 3354550 h 3415968"/>
              <a:gd name="connsiteX7" fmla="*/ 3398050 w 3964392"/>
              <a:gd name="connsiteY7" fmla="*/ 3407194 h 3415968"/>
              <a:gd name="connsiteX8" fmla="*/ 21806 w 3964392"/>
              <a:gd name="connsiteY8" fmla="*/ 3407194 h 3415968"/>
              <a:gd name="connsiteX9" fmla="*/ 0 w 3964392"/>
              <a:gd name="connsiteY9" fmla="*/ 3354550 h 3415968"/>
              <a:gd name="connsiteX10" fmla="*/ 0 w 3964392"/>
              <a:gd name="connsiteY10" fmla="*/ 74450 h 3415968"/>
              <a:gd name="connsiteX0" fmla="*/ 0 w 3968026"/>
              <a:gd name="connsiteY0" fmla="*/ 74450 h 3910007"/>
              <a:gd name="connsiteX1" fmla="*/ 21806 w 3968026"/>
              <a:gd name="connsiteY1" fmla="*/ 21806 h 3910007"/>
              <a:gd name="connsiteX2" fmla="*/ 74450 w 3968026"/>
              <a:gd name="connsiteY2" fmla="*/ 0 h 3910007"/>
              <a:gd name="connsiteX3" fmla="*/ 3345406 w 3968026"/>
              <a:gd name="connsiteY3" fmla="*/ 0 h 3910007"/>
              <a:gd name="connsiteX4" fmla="*/ 3398050 w 3968026"/>
              <a:gd name="connsiteY4" fmla="*/ 21806 h 3910007"/>
              <a:gd name="connsiteX5" fmla="*/ 3419856 w 3968026"/>
              <a:gd name="connsiteY5" fmla="*/ 74450 h 3910007"/>
              <a:gd name="connsiteX6" fmla="*/ 3419856 w 3968026"/>
              <a:gd name="connsiteY6" fmla="*/ 3354550 h 3910007"/>
              <a:gd name="connsiteX7" fmla="*/ 3398050 w 3968026"/>
              <a:gd name="connsiteY7" fmla="*/ 3407194 h 3910007"/>
              <a:gd name="connsiteX8" fmla="*/ 0 w 3968026"/>
              <a:gd name="connsiteY8" fmla="*/ 3354550 h 3910007"/>
              <a:gd name="connsiteX9" fmla="*/ 0 w 3968026"/>
              <a:gd name="connsiteY9" fmla="*/ 74450 h 3910007"/>
              <a:gd name="connsiteX0" fmla="*/ 0 w 3419856"/>
              <a:gd name="connsiteY0" fmla="*/ 74450 h 3901233"/>
              <a:gd name="connsiteX1" fmla="*/ 21806 w 3419856"/>
              <a:gd name="connsiteY1" fmla="*/ 21806 h 3901233"/>
              <a:gd name="connsiteX2" fmla="*/ 74450 w 3419856"/>
              <a:gd name="connsiteY2" fmla="*/ 0 h 3901233"/>
              <a:gd name="connsiteX3" fmla="*/ 3345406 w 3419856"/>
              <a:gd name="connsiteY3" fmla="*/ 0 h 3901233"/>
              <a:gd name="connsiteX4" fmla="*/ 3398050 w 3419856"/>
              <a:gd name="connsiteY4" fmla="*/ 21806 h 3901233"/>
              <a:gd name="connsiteX5" fmla="*/ 3419856 w 3419856"/>
              <a:gd name="connsiteY5" fmla="*/ 74450 h 3901233"/>
              <a:gd name="connsiteX6" fmla="*/ 3419856 w 3419856"/>
              <a:gd name="connsiteY6" fmla="*/ 3354550 h 3901233"/>
              <a:gd name="connsiteX7" fmla="*/ 0 w 3419856"/>
              <a:gd name="connsiteY7" fmla="*/ 3354550 h 3901233"/>
              <a:gd name="connsiteX8" fmla="*/ 0 w 3419856"/>
              <a:gd name="connsiteY8" fmla="*/ 74450 h 3901233"/>
              <a:gd name="connsiteX0" fmla="*/ 0 w 3419856"/>
              <a:gd name="connsiteY0" fmla="*/ 74450 h 3354550"/>
              <a:gd name="connsiteX1" fmla="*/ 21806 w 3419856"/>
              <a:gd name="connsiteY1" fmla="*/ 21806 h 3354550"/>
              <a:gd name="connsiteX2" fmla="*/ 74450 w 3419856"/>
              <a:gd name="connsiteY2" fmla="*/ 0 h 3354550"/>
              <a:gd name="connsiteX3" fmla="*/ 3345406 w 3419856"/>
              <a:gd name="connsiteY3" fmla="*/ 0 h 3354550"/>
              <a:gd name="connsiteX4" fmla="*/ 3398050 w 3419856"/>
              <a:gd name="connsiteY4" fmla="*/ 21806 h 3354550"/>
              <a:gd name="connsiteX5" fmla="*/ 3419856 w 3419856"/>
              <a:gd name="connsiteY5" fmla="*/ 74450 h 3354550"/>
              <a:gd name="connsiteX6" fmla="*/ 3419856 w 3419856"/>
              <a:gd name="connsiteY6" fmla="*/ 3354550 h 3354550"/>
              <a:gd name="connsiteX7" fmla="*/ 0 w 3419856"/>
              <a:gd name="connsiteY7" fmla="*/ 3354550 h 3354550"/>
              <a:gd name="connsiteX8" fmla="*/ 0 w 3419856"/>
              <a:gd name="connsiteY8" fmla="*/ 74450 h 335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9856" h="3354550">
                <a:moveTo>
                  <a:pt x="0" y="74450"/>
                </a:moveTo>
                <a:cubicBezTo>
                  <a:pt x="0" y="54705"/>
                  <a:pt x="7844" y="35768"/>
                  <a:pt x="21806" y="21806"/>
                </a:cubicBezTo>
                <a:cubicBezTo>
                  <a:pt x="35768" y="7844"/>
                  <a:pt x="54705" y="0"/>
                  <a:pt x="74450" y="0"/>
                </a:cubicBezTo>
                <a:lnTo>
                  <a:pt x="3345406" y="0"/>
                </a:lnTo>
                <a:cubicBezTo>
                  <a:pt x="3365151" y="0"/>
                  <a:pt x="3384088" y="7844"/>
                  <a:pt x="3398050" y="21806"/>
                </a:cubicBezTo>
                <a:cubicBezTo>
                  <a:pt x="3412012" y="35768"/>
                  <a:pt x="3419856" y="54705"/>
                  <a:pt x="3419856" y="74450"/>
                </a:cubicBezTo>
                <a:lnTo>
                  <a:pt x="3419856" y="3354550"/>
                </a:lnTo>
                <a:lnTo>
                  <a:pt x="0" y="3354550"/>
                </a:lnTo>
                <a:lnTo>
                  <a:pt x="0" y="74450"/>
                </a:lnTo>
                <a:close/>
              </a:path>
            </a:pathLst>
          </a:custGeom>
        </p:spPr>
        <p:txBody>
          <a:bodyPr>
            <a:normAutofit/>
          </a:bodyPr>
          <a:lstStyle>
            <a:lvl1pPr marL="0" indent="0" algn="ctr">
              <a:buNone/>
              <a:defRPr sz="2000" baseline="0">
                <a:solidFill>
                  <a:schemeClr val="tx1">
                    <a:lumMod val="6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547890"/>
            <a:ext cx="2971800" cy="2405109"/>
          </a:xfrm>
        </p:spPr>
        <p:txBody>
          <a:bodyPr tIns="9144">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1A67B1-30D4-4E61-9586-F7B73FE33CB1}" type="datetimeFigureOut">
              <a:rPr lang="en-US" smtClean="0"/>
              <a:t>5/25/2022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6537236-B35C-429F-8DA7-0CCD6C1ED4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1A67B1-30D4-4E61-9586-F7B73FE33CB1}" type="datetimeFigureOut">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537236-B35C-429F-8DA7-0CCD6C1ED4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1A67B1-30D4-4E61-9586-F7B73FE33CB1}" type="datetimeFigureOut">
              <a:rPr lang="en-US" smtClean="0"/>
              <a:t>5/25/2022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6537236-B35C-429F-8DA7-0CCD6C1ED4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7" name="Picture 6" descr="horizon.png"/>
          <p:cNvPicPr>
            <a:picLocks noChangeAspect="1"/>
          </p:cNvPicPr>
          <p:nvPr/>
        </p:nvPicPr>
        <p:blipFill>
          <a:blip r:embed="rId13" cstate="print"/>
          <a:stretch>
            <a:fillRect/>
          </a:stretch>
        </p:blipFill>
        <p:spPr>
          <a:xfrm>
            <a:off x="0" y="0"/>
            <a:ext cx="9144000" cy="6858000"/>
          </a:xfrm>
          <a:prstGeom prst="rect">
            <a:avLst/>
          </a:prstGeom>
        </p:spPr>
      </p:pic>
      <p:sp>
        <p:nvSpPr>
          <p:cNvPr id="2" name="Title Placeholder 1"/>
          <p:cNvSpPr>
            <a:spLocks noGrp="1"/>
          </p:cNvSpPr>
          <p:nvPr>
            <p:ph type="title"/>
          </p:nvPr>
        </p:nvSpPr>
        <p:spPr>
          <a:xfrm>
            <a:off x="609600" y="274638"/>
            <a:ext cx="7924800" cy="1143000"/>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7924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15000" y="6356350"/>
            <a:ext cx="1524000" cy="365125"/>
          </a:xfrm>
          <a:prstGeom prst="rect">
            <a:avLst/>
          </a:prstGeom>
        </p:spPr>
        <p:txBody>
          <a:bodyPr vert="horz" lIns="91440" tIns="45720" rIns="91440" bIns="45720" rtlCol="0" anchor="ctr"/>
          <a:lstStyle>
            <a:lvl1pPr algn="r">
              <a:defRPr sz="1000" strike="noStrike" spc="60" baseline="0">
                <a:solidFill>
                  <a:schemeClr val="tx1"/>
                </a:solidFill>
              </a:defRPr>
            </a:lvl1pPr>
          </a:lstStyle>
          <a:p>
            <a:fld id="{221A67B1-30D4-4E61-9586-F7B73FE33CB1}" type="datetimeFigureOut">
              <a:rPr lang="en-US" smtClean="0"/>
              <a:t>5/25/2022</a:t>
            </a:fld>
            <a:endParaRPr lang="en-US"/>
          </a:p>
        </p:txBody>
      </p:sp>
      <p:sp>
        <p:nvSpPr>
          <p:cNvPr id="5" name="Footer Placeholder 4"/>
          <p:cNvSpPr>
            <a:spLocks noGrp="1"/>
          </p:cNvSpPr>
          <p:nvPr>
            <p:ph type="ftr" sz="quarter" idx="3"/>
          </p:nvPr>
        </p:nvSpPr>
        <p:spPr>
          <a:xfrm>
            <a:off x="609600" y="6356350"/>
            <a:ext cx="2895600" cy="365125"/>
          </a:xfrm>
          <a:prstGeom prst="rect">
            <a:avLst/>
          </a:prstGeom>
        </p:spPr>
        <p:txBody>
          <a:bodyPr vert="horz" lIns="91440" tIns="45720" rIns="91440" bIns="45720" rtlCol="0" anchor="ctr"/>
          <a:lstStyle>
            <a:lvl1pPr algn="l">
              <a:defRPr sz="1000" cap="all" spc="60" baseline="0">
                <a:solidFill>
                  <a:schemeClr val="tx1"/>
                </a:solidFill>
              </a:defRPr>
            </a:lvl1pPr>
          </a:lstStyle>
          <a:p>
            <a:endParaRPr lang="en-US"/>
          </a:p>
        </p:txBody>
      </p:sp>
      <p:sp>
        <p:nvSpPr>
          <p:cNvPr id="6" name="Slide Number Placeholder 5"/>
          <p:cNvSpPr>
            <a:spLocks noGrp="1"/>
          </p:cNvSpPr>
          <p:nvPr>
            <p:ph type="sldNum" sz="quarter" idx="4"/>
          </p:nvPr>
        </p:nvSpPr>
        <p:spPr>
          <a:xfrm>
            <a:off x="7543800" y="6356350"/>
            <a:ext cx="990600" cy="365125"/>
          </a:xfrm>
          <a:prstGeom prst="rect">
            <a:avLst/>
          </a:prstGeom>
        </p:spPr>
        <p:txBody>
          <a:bodyPr vert="horz" lIns="91440" tIns="45720" rIns="91440" bIns="45720" rtlCol="0" anchor="ctr"/>
          <a:lstStyle>
            <a:lvl1pPr algn="r">
              <a:defRPr sz="1100" baseline="0">
                <a:solidFill>
                  <a:schemeClr val="tx1"/>
                </a:solidFill>
              </a:defRPr>
            </a:lvl1pPr>
          </a:lstStyle>
          <a:p>
            <a:fld id="{56537236-B35C-429F-8DA7-0CCD6C1ED4B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spcBef>
          <a:spcPct val="0"/>
        </a:spcBef>
        <a:buNone/>
        <a:defRPr sz="3000" kern="1200" cap="all" spc="5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1pPr>
      <a:lvl2pPr marL="742950" indent="-28575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2pPr>
      <a:lvl3pPr marL="1143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3pPr>
      <a:lvl4pPr marL="1600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4pPr>
      <a:lvl5pPr marL="20574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spc="30" baseline="0">
          <a:solidFill>
            <a:schemeClr val="tx1"/>
          </a:solidFill>
          <a:latin typeface="+mn-lt"/>
          <a:ea typeface="+mn-ea"/>
          <a:cs typeface="+mn-cs"/>
        </a:defRPr>
      </a:lvl5pPr>
      <a:lvl6pPr marL="25146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6pPr>
      <a:lvl7pPr marL="29718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7pPr>
      <a:lvl8pPr marL="34290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8pPr>
      <a:lvl9pPr marL="3886200" indent="-228600" algn="l" defTabSz="914400" rtl="0" eaLnBrk="1" latinLnBrk="0" hangingPunct="1">
        <a:lnSpc>
          <a:spcPct val="100000"/>
        </a:lnSpc>
        <a:spcBef>
          <a:spcPct val="20000"/>
        </a:spcBef>
        <a:spcAft>
          <a:spcPts val="600"/>
        </a:spcAft>
        <a:buClr>
          <a:schemeClr val="tx2"/>
        </a:buClr>
        <a:buFont typeface="Arial"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791200" y="4876800"/>
            <a:ext cx="3505200" cy="838200"/>
          </a:xfrm>
        </p:spPr>
        <p:txBody>
          <a:bodyPr/>
          <a:lstStyle/>
          <a:p>
            <a:pPr algn="just"/>
            <a:r>
              <a:rPr lang="en-US" dirty="0"/>
              <a:t>P SHRISHTI CLINT</a:t>
            </a:r>
          </a:p>
          <a:p>
            <a:pPr algn="just"/>
            <a:r>
              <a:rPr lang="en-US" dirty="0"/>
              <a:t>S4 MCA B,27</a:t>
            </a:r>
          </a:p>
        </p:txBody>
      </p:sp>
      <p:sp>
        <p:nvSpPr>
          <p:cNvPr id="2" name="Title 1"/>
          <p:cNvSpPr>
            <a:spLocks noGrp="1"/>
          </p:cNvSpPr>
          <p:nvPr>
            <p:ph type="ctrTitle"/>
          </p:nvPr>
        </p:nvSpPr>
        <p:spPr/>
        <p:txBody>
          <a:bodyPr/>
          <a:lstStyle/>
          <a:p>
            <a:r>
              <a:rPr lang="en-US" sz="4800" dirty="0">
                <a:latin typeface="Cambria" pitchFamily="18" charset="0"/>
                <a:ea typeface="Cambria" pitchFamily="18" charset="0"/>
              </a:rPr>
              <a:t>SECURE E-COUPON USING BLOCKCHAIN</a:t>
            </a:r>
          </a:p>
        </p:txBody>
      </p:sp>
    </p:spTree>
    <p:extLst>
      <p:ext uri="{BB962C8B-B14F-4D97-AF65-F5344CB8AC3E}">
        <p14:creationId xmlns:p14="http://schemas.microsoft.com/office/powerpoint/2010/main" val="400538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itchFamily="18" charset="0"/>
                <a:ea typeface="Cambria" pitchFamily="18" charset="0"/>
              </a:rPr>
              <a:t>RELEVANCE</a:t>
            </a:r>
          </a:p>
        </p:txBody>
      </p:sp>
      <p:sp>
        <p:nvSpPr>
          <p:cNvPr id="3" name="Content Placeholder 2"/>
          <p:cNvSpPr>
            <a:spLocks noGrp="1"/>
          </p:cNvSpPr>
          <p:nvPr>
            <p:ph sz="quarter" idx="13"/>
          </p:nvPr>
        </p:nvSpPr>
        <p:spPr>
          <a:xfrm>
            <a:off x="609600" y="1905000"/>
            <a:ext cx="7924800" cy="4114800"/>
          </a:xfrm>
        </p:spPr>
        <p:txBody>
          <a:bodyPr/>
          <a:lstStyle/>
          <a:p>
            <a:r>
              <a:rPr lang="en-US" dirty="0">
                <a:latin typeface="Cambria" pitchFamily="18" charset="0"/>
                <a:ea typeface="Cambria" pitchFamily="18" charset="0"/>
              </a:rPr>
              <a:t>Digital coupons are discounts/offers that are aimed at tempting costumers to make purchase at online market.</a:t>
            </a:r>
          </a:p>
          <a:p>
            <a:r>
              <a:rPr lang="en-US" dirty="0">
                <a:latin typeface="Cambria" pitchFamily="18" charset="0"/>
                <a:ea typeface="Cambria" pitchFamily="18" charset="0"/>
              </a:rPr>
              <a:t>Discount coupon tampering in a retail chain is one of the biggest problems in the business domain.</a:t>
            </a:r>
          </a:p>
          <a:p>
            <a:r>
              <a:rPr lang="en-US" dirty="0">
                <a:latin typeface="Cambria" pitchFamily="18" charset="0"/>
                <a:ea typeface="Cambria" pitchFamily="18" charset="0"/>
              </a:rPr>
              <a:t>A manufacturer distributes their product to the retailers where they provide discounts to the products. All the retailers get access to the discount coupons of the products and this is shared to the customers. Customers can redeem the discounts of the product and buy them in low cost.</a:t>
            </a:r>
          </a:p>
          <a:p>
            <a:r>
              <a:rPr lang="en-US" dirty="0">
                <a:latin typeface="Cambria" pitchFamily="18" charset="0"/>
                <a:ea typeface="Cambria" pitchFamily="18" charset="0"/>
              </a:rPr>
              <a:t>To solve the tampering in these coupons so that the manufacturers do not face loss we use a secure e-coupon service based on </a:t>
            </a:r>
            <a:r>
              <a:rPr lang="en-US" dirty="0" err="1">
                <a:latin typeface="Cambria" pitchFamily="18" charset="0"/>
                <a:ea typeface="Cambria" pitchFamily="18" charset="0"/>
              </a:rPr>
              <a:t>blockchain</a:t>
            </a:r>
            <a:r>
              <a:rPr lang="en-US" dirty="0">
                <a:latin typeface="Cambria" pitchFamily="18" charset="0"/>
                <a:ea typeface="Cambria" pitchFamily="18" charset="0"/>
              </a:rPr>
              <a:t> system.</a:t>
            </a:r>
          </a:p>
          <a:p>
            <a:endParaRPr lang="en-US" dirty="0">
              <a:latin typeface="Cambria" pitchFamily="18" charset="0"/>
              <a:ea typeface="Cambria" pitchFamily="18" charset="0"/>
            </a:endParaRPr>
          </a:p>
        </p:txBody>
      </p:sp>
    </p:spTree>
    <p:extLst>
      <p:ext uri="{BB962C8B-B14F-4D97-AF65-F5344CB8AC3E}">
        <p14:creationId xmlns:p14="http://schemas.microsoft.com/office/powerpoint/2010/main" val="2154277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57053"/>
            <a:ext cx="7924800" cy="1143000"/>
          </a:xfrm>
        </p:spPr>
        <p:txBody>
          <a:bodyPr/>
          <a:lstStyle/>
          <a:p>
            <a:r>
              <a:rPr lang="en-US" dirty="0">
                <a:latin typeface="Cambria" pitchFamily="18" charset="0"/>
                <a:ea typeface="Cambria" pitchFamily="18" charset="0"/>
              </a:rPr>
              <a:t>Description</a:t>
            </a:r>
          </a:p>
        </p:txBody>
      </p:sp>
      <p:sp>
        <p:nvSpPr>
          <p:cNvPr id="3" name="Content Placeholder 2"/>
          <p:cNvSpPr>
            <a:spLocks noGrp="1"/>
          </p:cNvSpPr>
          <p:nvPr>
            <p:ph sz="quarter" idx="13"/>
          </p:nvPr>
        </p:nvSpPr>
        <p:spPr/>
        <p:txBody>
          <a:bodyPr/>
          <a:lstStyle/>
          <a:p>
            <a:r>
              <a:rPr lang="en-US" dirty="0">
                <a:latin typeface="Cambria" pitchFamily="18" charset="0"/>
                <a:ea typeface="Cambria" pitchFamily="18" charset="0"/>
              </a:rPr>
              <a:t>In this,</a:t>
            </a:r>
            <a:r>
              <a:rPr lang="en-US" dirty="0"/>
              <a:t> </a:t>
            </a:r>
            <a:r>
              <a:rPr lang="en-US" dirty="0">
                <a:latin typeface="Cambria" pitchFamily="18" charset="0"/>
                <a:ea typeface="Cambria" pitchFamily="18" charset="0"/>
              </a:rPr>
              <a:t>the retailers can generate coupons for a particular product and can share it with the universe using any social media. The coupons are stored in an open source </a:t>
            </a:r>
            <a:r>
              <a:rPr lang="en-US" dirty="0" err="1">
                <a:latin typeface="Cambria" pitchFamily="18" charset="0"/>
                <a:ea typeface="Cambria" pitchFamily="18" charset="0"/>
              </a:rPr>
              <a:t>blockchain</a:t>
            </a:r>
            <a:r>
              <a:rPr lang="en-US" dirty="0">
                <a:latin typeface="Cambria" pitchFamily="18" charset="0"/>
                <a:ea typeface="Cambria" pitchFamily="18" charset="0"/>
              </a:rPr>
              <a:t> platform called </a:t>
            </a:r>
            <a:r>
              <a:rPr lang="en-US" dirty="0" err="1">
                <a:latin typeface="Cambria" pitchFamily="18" charset="0"/>
                <a:ea typeface="Cambria" pitchFamily="18" charset="0"/>
              </a:rPr>
              <a:t>Ethereum</a:t>
            </a:r>
            <a:r>
              <a:rPr lang="en-US" dirty="0">
                <a:latin typeface="Cambria" pitchFamily="18" charset="0"/>
                <a:ea typeface="Cambria" pitchFamily="18" charset="0"/>
              </a:rPr>
              <a:t>. With the underlying security mechanism of the </a:t>
            </a:r>
            <a:r>
              <a:rPr lang="en-US" dirty="0" err="1">
                <a:latin typeface="Cambria" pitchFamily="18" charset="0"/>
                <a:ea typeface="Cambria" pitchFamily="18" charset="0"/>
              </a:rPr>
              <a:t>ethereum</a:t>
            </a:r>
            <a:r>
              <a:rPr lang="en-US" dirty="0">
                <a:latin typeface="Cambria" pitchFamily="18" charset="0"/>
                <a:ea typeface="Cambria" pitchFamily="18" charset="0"/>
              </a:rPr>
              <a:t> </a:t>
            </a:r>
            <a:r>
              <a:rPr lang="en-US" dirty="0" err="1">
                <a:latin typeface="Cambria" pitchFamily="18" charset="0"/>
                <a:ea typeface="Cambria" pitchFamily="18" charset="0"/>
              </a:rPr>
              <a:t>blockchain</a:t>
            </a:r>
            <a:r>
              <a:rPr lang="en-US" dirty="0">
                <a:latin typeface="Cambria" pitchFamily="18" charset="0"/>
                <a:ea typeface="Cambria" pitchFamily="18" charset="0"/>
              </a:rPr>
              <a:t>, our system is tamper-proof.</a:t>
            </a:r>
          </a:p>
          <a:p>
            <a:r>
              <a:rPr lang="en-US" dirty="0">
                <a:latin typeface="Cambria" pitchFamily="18" charset="0"/>
                <a:ea typeface="Cambria" pitchFamily="18" charset="0"/>
              </a:rPr>
              <a:t>We generate the coupons as e- coupons(QR-code) into </a:t>
            </a:r>
            <a:r>
              <a:rPr lang="en-US" dirty="0" err="1">
                <a:latin typeface="Cambria" pitchFamily="18" charset="0"/>
                <a:ea typeface="Cambria" pitchFamily="18" charset="0"/>
              </a:rPr>
              <a:t>blockchain</a:t>
            </a:r>
            <a:r>
              <a:rPr lang="en-US" dirty="0">
                <a:latin typeface="Cambria" pitchFamily="18" charset="0"/>
                <a:ea typeface="Cambria" pitchFamily="18" charset="0"/>
              </a:rPr>
              <a:t> network as a hash of the product details including the timestamp. Once we do this no one can change them due to the immutability feature provided by the </a:t>
            </a:r>
            <a:r>
              <a:rPr lang="en-US" dirty="0" err="1">
                <a:latin typeface="Cambria" pitchFamily="18" charset="0"/>
                <a:ea typeface="Cambria" pitchFamily="18" charset="0"/>
              </a:rPr>
              <a:t>blockchain</a:t>
            </a:r>
            <a:r>
              <a:rPr lang="en-US" dirty="0">
                <a:latin typeface="Cambria" pitchFamily="18" charset="0"/>
                <a:ea typeface="Cambria" pitchFamily="18" charset="0"/>
              </a:rPr>
              <a:t> ,also everyone in the chain can view the sales made.</a:t>
            </a:r>
          </a:p>
          <a:p>
            <a:r>
              <a:rPr lang="en-US" dirty="0">
                <a:latin typeface="Cambria" pitchFamily="18" charset="0"/>
                <a:ea typeface="Cambria" pitchFamily="18" charset="0"/>
              </a:rPr>
              <a:t>All retail chain comes under some manufacture, the manufacture publishes some discount coupons to increase their sales, they induce some validity to it, then they release the coupon to the </a:t>
            </a:r>
            <a:r>
              <a:rPr lang="en-US" dirty="0" err="1">
                <a:latin typeface="Cambria" pitchFamily="18" charset="0"/>
                <a:ea typeface="Cambria" pitchFamily="18" charset="0"/>
              </a:rPr>
              <a:t>customers</a:t>
            </a:r>
            <a:r>
              <a:rPr lang="en-US" dirty="0">
                <a:latin typeface="Cambria" pitchFamily="18" charset="0"/>
                <a:ea typeface="Cambria" pitchFamily="18" charset="0"/>
              </a:rPr>
              <a:t>. The customers can redeem the coupons from any outlets of the manufacture, where the retailer will collect the coupon verify it and provide the corresponding discount associated</a:t>
            </a:r>
            <a:r>
              <a:rPr lang="en-US" dirty="0"/>
              <a:t>.</a:t>
            </a:r>
            <a:endParaRPr lang="en-US" dirty="0">
              <a:latin typeface="Cambria" pitchFamily="18" charset="0"/>
              <a:ea typeface="Cambria" pitchFamily="18" charset="0"/>
            </a:endParaRPr>
          </a:p>
        </p:txBody>
      </p:sp>
    </p:spTree>
    <p:extLst>
      <p:ext uri="{BB962C8B-B14F-4D97-AF65-F5344CB8AC3E}">
        <p14:creationId xmlns:p14="http://schemas.microsoft.com/office/powerpoint/2010/main" val="22673122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0B795B-E8E7-1709-D22D-D1D1D624C993}"/>
              </a:ext>
            </a:extLst>
          </p:cNvPr>
          <p:cNvPicPr>
            <a:picLocks noChangeAspect="1"/>
          </p:cNvPicPr>
          <p:nvPr/>
        </p:nvPicPr>
        <p:blipFill>
          <a:blip r:embed="rId2"/>
          <a:stretch>
            <a:fillRect/>
          </a:stretch>
        </p:blipFill>
        <p:spPr>
          <a:xfrm>
            <a:off x="67458" y="2667000"/>
            <a:ext cx="9009083" cy="3200400"/>
          </a:xfrm>
          <a:prstGeom prst="rect">
            <a:avLst/>
          </a:prstGeom>
        </p:spPr>
      </p:pic>
      <p:sp>
        <p:nvSpPr>
          <p:cNvPr id="6" name="Title 1">
            <a:extLst>
              <a:ext uri="{FF2B5EF4-FFF2-40B4-BE49-F238E27FC236}">
                <a16:creationId xmlns:a16="http://schemas.microsoft.com/office/drawing/2014/main" id="{4DB59A01-E21E-BA3E-4925-7F9CE251D1EF}"/>
              </a:ext>
            </a:extLst>
          </p:cNvPr>
          <p:cNvSpPr>
            <a:spLocks noGrp="1"/>
          </p:cNvSpPr>
          <p:nvPr>
            <p:ph type="title"/>
          </p:nvPr>
        </p:nvSpPr>
        <p:spPr>
          <a:xfrm>
            <a:off x="152400" y="381000"/>
            <a:ext cx="7924800" cy="1143000"/>
          </a:xfrm>
        </p:spPr>
        <p:txBody>
          <a:bodyPr/>
          <a:lstStyle/>
          <a:p>
            <a:r>
              <a:rPr lang="en-US" dirty="0">
                <a:latin typeface="Cambria" pitchFamily="18" charset="0"/>
                <a:ea typeface="Cambria" pitchFamily="18" charset="0"/>
              </a:rPr>
              <a:t>STRUCTURE</a:t>
            </a:r>
          </a:p>
        </p:txBody>
      </p:sp>
    </p:spTree>
    <p:extLst>
      <p:ext uri="{BB962C8B-B14F-4D97-AF65-F5344CB8AC3E}">
        <p14:creationId xmlns:p14="http://schemas.microsoft.com/office/powerpoint/2010/main" val="1199801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itchFamily="18" charset="0"/>
                <a:ea typeface="Cambria" pitchFamily="18" charset="0"/>
              </a:rPr>
              <a:t>OBJECTIVES</a:t>
            </a:r>
          </a:p>
        </p:txBody>
      </p:sp>
      <p:sp>
        <p:nvSpPr>
          <p:cNvPr id="3" name="Content Placeholder 2"/>
          <p:cNvSpPr>
            <a:spLocks noGrp="1"/>
          </p:cNvSpPr>
          <p:nvPr>
            <p:ph sz="quarter" idx="13"/>
          </p:nvPr>
        </p:nvSpPr>
        <p:spPr/>
        <p:txBody>
          <a:bodyPr/>
          <a:lstStyle/>
          <a:p>
            <a:r>
              <a:rPr lang="en-US" dirty="0">
                <a:latin typeface="Cambria" pitchFamily="18" charset="0"/>
                <a:ea typeface="Cambria" pitchFamily="18" charset="0"/>
              </a:rPr>
              <a:t>To build a system that can completely eliminate the coupon fraud</a:t>
            </a:r>
          </a:p>
          <a:p>
            <a:r>
              <a:rPr lang="en-US" dirty="0">
                <a:latin typeface="Cambria" pitchFamily="18" charset="0"/>
                <a:ea typeface="Cambria" pitchFamily="18" charset="0"/>
              </a:rPr>
              <a:t>To maintain soft copies for ensuring that no coupons are lost.</a:t>
            </a:r>
          </a:p>
          <a:p>
            <a:r>
              <a:rPr lang="en-US" dirty="0"/>
              <a:t> </a:t>
            </a:r>
            <a:r>
              <a:rPr lang="en-US" dirty="0">
                <a:latin typeface="Cambria" pitchFamily="18" charset="0"/>
                <a:ea typeface="Cambria" pitchFamily="18" charset="0"/>
              </a:rPr>
              <a:t>To ensure the end to end security between  all user  levels.</a:t>
            </a:r>
          </a:p>
        </p:txBody>
      </p:sp>
    </p:spTree>
    <p:extLst>
      <p:ext uri="{BB962C8B-B14F-4D97-AF65-F5344CB8AC3E}">
        <p14:creationId xmlns:p14="http://schemas.microsoft.com/office/powerpoint/2010/main" val="4161272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
            <a:ext cx="7924800" cy="1143000"/>
          </a:xfrm>
        </p:spPr>
        <p:txBody>
          <a:bodyPr/>
          <a:lstStyle/>
          <a:p>
            <a:r>
              <a:rPr lang="en-US" dirty="0">
                <a:latin typeface="Cambria" pitchFamily="18" charset="0"/>
                <a:ea typeface="Cambria" pitchFamily="18" charset="0"/>
              </a:rPr>
              <a:t>Existing System</a:t>
            </a:r>
          </a:p>
        </p:txBody>
      </p:sp>
      <p:sp>
        <p:nvSpPr>
          <p:cNvPr id="3" name="Content Placeholder 2"/>
          <p:cNvSpPr>
            <a:spLocks noGrp="1"/>
          </p:cNvSpPr>
          <p:nvPr>
            <p:ph sz="quarter" idx="13"/>
          </p:nvPr>
        </p:nvSpPr>
        <p:spPr/>
        <p:txBody>
          <a:bodyPr/>
          <a:lstStyle/>
          <a:p>
            <a:r>
              <a:rPr lang="en-US" dirty="0">
                <a:latin typeface="Cambria" pitchFamily="18" charset="0"/>
                <a:ea typeface="Cambria" pitchFamily="18" charset="0"/>
              </a:rPr>
              <a:t>The existing system mainly consists of paper coupons that are distributed and maintained manually.</a:t>
            </a:r>
            <a:br>
              <a:rPr lang="en-US" dirty="0">
                <a:latin typeface="Cambria" pitchFamily="18" charset="0"/>
                <a:ea typeface="Cambria" pitchFamily="18" charset="0"/>
              </a:rPr>
            </a:br>
            <a:r>
              <a:rPr lang="en-US" dirty="0">
                <a:latin typeface="Cambria" pitchFamily="18" charset="0"/>
                <a:ea typeface="Cambria" pitchFamily="18" charset="0"/>
              </a:rPr>
              <a:t>The manual method is a much more tedious task </a:t>
            </a:r>
          </a:p>
          <a:p>
            <a:r>
              <a:rPr lang="en-US" dirty="0">
                <a:latin typeface="Cambria" pitchFamily="18" charset="0"/>
                <a:ea typeface="Cambria" pitchFamily="18" charset="0"/>
              </a:rPr>
              <a:t>The accounting process becomes extremely time consuming. There are issues related to study the market feedback and also a very high proportion of paper coupons are never returned.</a:t>
            </a:r>
          </a:p>
          <a:p>
            <a:r>
              <a:rPr lang="en-US" dirty="0">
                <a:latin typeface="Cambria" pitchFamily="18" charset="0"/>
                <a:ea typeface="Cambria" pitchFamily="18" charset="0"/>
              </a:rPr>
              <a:t>Later on, digital coupons were invented. The problem with the digital coupons is that, they get manipulated by some individuals, which causes a lot of loss to the merchants. So in many situations the loyalty of the customer has to be cross validated by the retailers.</a:t>
            </a:r>
          </a:p>
        </p:txBody>
      </p:sp>
    </p:spTree>
    <p:extLst>
      <p:ext uri="{BB962C8B-B14F-4D97-AF65-F5344CB8AC3E}">
        <p14:creationId xmlns:p14="http://schemas.microsoft.com/office/powerpoint/2010/main" val="1164867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itchFamily="18" charset="0"/>
                <a:ea typeface="Cambria" pitchFamily="18" charset="0"/>
              </a:rPr>
              <a:t>Proposed system</a:t>
            </a:r>
          </a:p>
        </p:txBody>
      </p:sp>
      <p:sp>
        <p:nvSpPr>
          <p:cNvPr id="3" name="Content Placeholder 2"/>
          <p:cNvSpPr>
            <a:spLocks noGrp="1"/>
          </p:cNvSpPr>
          <p:nvPr>
            <p:ph sz="quarter" idx="13"/>
          </p:nvPr>
        </p:nvSpPr>
        <p:spPr/>
        <p:txBody>
          <a:bodyPr/>
          <a:lstStyle/>
          <a:p>
            <a:r>
              <a:rPr lang="en-US" dirty="0">
                <a:latin typeface="Cambria" pitchFamily="18" charset="0"/>
                <a:ea typeface="Cambria" pitchFamily="18" charset="0"/>
              </a:rPr>
              <a:t>The system enables the retail chains to issue coupons. The retailers can verify the coupon when the customer come to redeem it. </a:t>
            </a:r>
          </a:p>
          <a:p>
            <a:r>
              <a:rPr lang="en-US" dirty="0">
                <a:latin typeface="Cambria" pitchFamily="18" charset="0"/>
                <a:ea typeface="Cambria" pitchFamily="18" charset="0"/>
              </a:rPr>
              <a:t>It also makes the verification much more efficient by enabling customers and retailers to verify the </a:t>
            </a:r>
            <a:r>
              <a:rPr lang="en-US" dirty="0" err="1">
                <a:latin typeface="Cambria" pitchFamily="18" charset="0"/>
                <a:ea typeface="Cambria" pitchFamily="18" charset="0"/>
              </a:rPr>
              <a:t>genuinity</a:t>
            </a:r>
            <a:r>
              <a:rPr lang="en-US" dirty="0">
                <a:latin typeface="Cambria" pitchFamily="18" charset="0"/>
                <a:ea typeface="Cambria" pitchFamily="18" charset="0"/>
              </a:rPr>
              <a:t> of the coupons. And there by enabling the solution to the customer loyalty issues</a:t>
            </a:r>
            <a:r>
              <a:rPr lang="en-US" dirty="0"/>
              <a:t>. </a:t>
            </a:r>
          </a:p>
          <a:p>
            <a:r>
              <a:rPr lang="en-US" dirty="0">
                <a:latin typeface="Cambria" pitchFamily="18" charset="0"/>
                <a:ea typeface="Cambria" pitchFamily="18" charset="0"/>
              </a:rPr>
              <a:t>This system is much more secure when compared with the existing system.</a:t>
            </a:r>
          </a:p>
        </p:txBody>
      </p:sp>
    </p:spTree>
    <p:extLst>
      <p:ext uri="{BB962C8B-B14F-4D97-AF65-F5344CB8AC3E}">
        <p14:creationId xmlns:p14="http://schemas.microsoft.com/office/powerpoint/2010/main" val="1021330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itchFamily="18" charset="0"/>
                <a:ea typeface="Cambria" pitchFamily="18" charset="0"/>
              </a:rPr>
              <a:t>Modules</a:t>
            </a:r>
          </a:p>
        </p:txBody>
      </p:sp>
      <p:sp>
        <p:nvSpPr>
          <p:cNvPr id="3" name="Content Placeholder 2"/>
          <p:cNvSpPr>
            <a:spLocks noGrp="1"/>
          </p:cNvSpPr>
          <p:nvPr>
            <p:ph sz="quarter" idx="13"/>
          </p:nvPr>
        </p:nvSpPr>
        <p:spPr/>
        <p:txBody>
          <a:bodyPr>
            <a:normAutofit lnSpcReduction="10000"/>
          </a:bodyPr>
          <a:lstStyle/>
          <a:p>
            <a:r>
              <a:rPr lang="en-US" dirty="0">
                <a:latin typeface="Cambria" pitchFamily="18" charset="0"/>
                <a:ea typeface="Cambria" pitchFamily="18" charset="0"/>
              </a:rPr>
              <a:t>RETAIL MARKET SETUP</a:t>
            </a:r>
          </a:p>
          <a:p>
            <a:pPr marL="0" indent="0">
              <a:buNone/>
            </a:pPr>
            <a:r>
              <a:rPr lang="en-US" dirty="0">
                <a:latin typeface="Cambria" pitchFamily="18" charset="0"/>
                <a:ea typeface="Cambria" pitchFamily="18" charset="0"/>
              </a:rPr>
              <a:t>	Registering retailer </a:t>
            </a:r>
          </a:p>
          <a:p>
            <a:r>
              <a:rPr lang="en-US" dirty="0">
                <a:latin typeface="Cambria" pitchFamily="18" charset="0"/>
                <a:ea typeface="Cambria" pitchFamily="18" charset="0"/>
              </a:rPr>
              <a:t>Add Product</a:t>
            </a:r>
          </a:p>
          <a:p>
            <a:pPr marL="0" indent="0">
              <a:buNone/>
            </a:pPr>
            <a:r>
              <a:rPr lang="en-US" dirty="0">
                <a:latin typeface="Cambria" pitchFamily="18" charset="0"/>
                <a:ea typeface="Cambria" pitchFamily="18" charset="0"/>
              </a:rPr>
              <a:t>	Adding products with discounts in Ethereum.</a:t>
            </a:r>
          </a:p>
          <a:p>
            <a:r>
              <a:rPr lang="en-US" dirty="0">
                <a:latin typeface="Cambria" pitchFamily="18" charset="0"/>
                <a:ea typeface="Cambria" pitchFamily="18" charset="0"/>
              </a:rPr>
              <a:t>Coupon conversion</a:t>
            </a:r>
          </a:p>
          <a:p>
            <a:pPr marL="0" indent="0">
              <a:buNone/>
            </a:pPr>
            <a:r>
              <a:rPr lang="en-US" dirty="0">
                <a:latin typeface="Cambria" pitchFamily="18" charset="0"/>
                <a:ea typeface="Cambria" pitchFamily="18" charset="0"/>
              </a:rPr>
              <a:t>	Converting coupon into </a:t>
            </a:r>
            <a:r>
              <a:rPr lang="en-US" dirty="0" err="1">
                <a:latin typeface="Cambria" pitchFamily="18" charset="0"/>
                <a:ea typeface="Cambria" pitchFamily="18" charset="0"/>
              </a:rPr>
              <a:t>hashcode</a:t>
            </a:r>
            <a:r>
              <a:rPr lang="en-US" dirty="0">
                <a:latin typeface="Cambria" pitchFamily="18" charset="0"/>
                <a:ea typeface="Cambria" pitchFamily="18" charset="0"/>
              </a:rPr>
              <a:t> and </a:t>
            </a:r>
            <a:r>
              <a:rPr lang="en-US" dirty="0" err="1">
                <a:latin typeface="Cambria" pitchFamily="18" charset="0"/>
                <a:ea typeface="Cambria" pitchFamily="18" charset="0"/>
              </a:rPr>
              <a:t>Qrcode</a:t>
            </a:r>
            <a:r>
              <a:rPr lang="en-US" dirty="0">
                <a:latin typeface="Cambria" pitchFamily="18" charset="0"/>
                <a:ea typeface="Cambria" pitchFamily="18" charset="0"/>
              </a:rPr>
              <a:t>.</a:t>
            </a:r>
          </a:p>
          <a:p>
            <a:r>
              <a:rPr lang="en-US" dirty="0">
                <a:latin typeface="Cambria" pitchFamily="18" charset="0"/>
                <a:ea typeface="Cambria" pitchFamily="18" charset="0"/>
              </a:rPr>
              <a:t>Contract Creation</a:t>
            </a:r>
          </a:p>
          <a:p>
            <a:pPr marL="0" indent="0">
              <a:buNone/>
            </a:pPr>
            <a:r>
              <a:rPr lang="en-US" dirty="0">
                <a:latin typeface="Cambria" pitchFamily="18" charset="0"/>
                <a:ea typeface="Cambria" pitchFamily="18" charset="0"/>
              </a:rPr>
              <a:t>	Using solidity a digital contract is signed</a:t>
            </a:r>
          </a:p>
          <a:p>
            <a:r>
              <a:rPr lang="en-US" dirty="0">
                <a:latin typeface="Cambria" pitchFamily="18" charset="0"/>
                <a:ea typeface="Cambria" pitchFamily="18" charset="0"/>
              </a:rPr>
              <a:t>Coupon Validation</a:t>
            </a:r>
          </a:p>
          <a:p>
            <a:pPr marL="457200" lvl="1" indent="0">
              <a:buNone/>
            </a:pPr>
            <a:r>
              <a:rPr lang="en-US" dirty="0">
                <a:latin typeface="Cambria" pitchFamily="18" charset="0"/>
                <a:ea typeface="Cambria" pitchFamily="18" charset="0"/>
              </a:rPr>
              <a:t>	Done by retailer , If the customer is valid scanning QR code will show a product associated with QR code.</a:t>
            </a:r>
          </a:p>
          <a:p>
            <a:endParaRPr lang="en-US" dirty="0">
              <a:latin typeface="Cambria" pitchFamily="18" charset="0"/>
              <a:ea typeface="Cambria" pitchFamily="18" charset="0"/>
            </a:endParaRPr>
          </a:p>
          <a:p>
            <a:pPr marL="457200" lvl="1" indent="0">
              <a:buNone/>
            </a:pPr>
            <a:endParaRPr lang="en-US" dirty="0">
              <a:latin typeface="Cambria" pitchFamily="18" charset="0"/>
              <a:ea typeface="Cambria" pitchFamily="18" charset="0"/>
            </a:endParaRPr>
          </a:p>
        </p:txBody>
      </p:sp>
    </p:spTree>
    <p:extLst>
      <p:ext uri="{BB962C8B-B14F-4D97-AF65-F5344CB8AC3E}">
        <p14:creationId xmlns:p14="http://schemas.microsoft.com/office/powerpoint/2010/main" val="248414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itchFamily="18" charset="0"/>
                <a:ea typeface="Cambria" pitchFamily="18" charset="0"/>
              </a:rPr>
              <a:t>METHODOLOGY</a:t>
            </a:r>
          </a:p>
        </p:txBody>
      </p:sp>
      <p:sp>
        <p:nvSpPr>
          <p:cNvPr id="3" name="Content Placeholder 2"/>
          <p:cNvSpPr>
            <a:spLocks noGrp="1"/>
          </p:cNvSpPr>
          <p:nvPr>
            <p:ph sz="quarter" idx="13"/>
          </p:nvPr>
        </p:nvSpPr>
        <p:spPr/>
        <p:txBody>
          <a:bodyPr>
            <a:normAutofit fontScale="92500" lnSpcReduction="20000"/>
          </a:bodyPr>
          <a:lstStyle/>
          <a:p>
            <a:r>
              <a:rPr lang="en-US" dirty="0">
                <a:latin typeface="Cambria" pitchFamily="18" charset="0"/>
                <a:ea typeface="Cambria" pitchFamily="18" charset="0"/>
              </a:rPr>
              <a:t>The proposed system uses the public </a:t>
            </a:r>
            <a:r>
              <a:rPr lang="en-US" dirty="0" err="1">
                <a:latin typeface="Cambria" pitchFamily="18" charset="0"/>
                <a:ea typeface="Cambria" pitchFamily="18" charset="0"/>
              </a:rPr>
              <a:t>blockchain</a:t>
            </a:r>
            <a:r>
              <a:rPr lang="en-US" dirty="0">
                <a:latin typeface="Cambria" pitchFamily="18" charset="0"/>
                <a:ea typeface="Cambria" pitchFamily="18" charset="0"/>
              </a:rPr>
              <a:t> technology called </a:t>
            </a:r>
            <a:r>
              <a:rPr lang="en-US" dirty="0" err="1">
                <a:latin typeface="Cambria" pitchFamily="18" charset="0"/>
                <a:ea typeface="Cambria" pitchFamily="18" charset="0"/>
              </a:rPr>
              <a:t>Ethereum</a:t>
            </a:r>
            <a:r>
              <a:rPr lang="en-US" dirty="0">
                <a:latin typeface="Cambria" pitchFamily="18" charset="0"/>
                <a:ea typeface="Cambria" pitchFamily="18" charset="0"/>
              </a:rPr>
              <a:t> </a:t>
            </a:r>
            <a:r>
              <a:rPr lang="en-US" dirty="0" err="1">
                <a:latin typeface="Cambria" pitchFamily="18" charset="0"/>
                <a:ea typeface="Cambria" pitchFamily="18" charset="0"/>
              </a:rPr>
              <a:t>blockchain</a:t>
            </a:r>
            <a:r>
              <a:rPr lang="en-US" dirty="0">
                <a:latin typeface="Cambria" pitchFamily="18" charset="0"/>
                <a:ea typeface="Cambria" pitchFamily="18" charset="0"/>
              </a:rPr>
              <a:t> and the highly distributed. This system provides the retailers to verify the genuinely of the coupons brought by the customer</a:t>
            </a:r>
          </a:p>
          <a:p>
            <a:r>
              <a:rPr lang="en-US" u="sng" dirty="0">
                <a:latin typeface="Cambria" pitchFamily="18" charset="0"/>
                <a:ea typeface="Cambria" pitchFamily="18" charset="0"/>
              </a:rPr>
              <a:t>Creating the discount coupon</a:t>
            </a:r>
          </a:p>
          <a:p>
            <a:pPr marL="0" indent="0">
              <a:buNone/>
            </a:pPr>
            <a:r>
              <a:rPr lang="en-US" dirty="0">
                <a:latin typeface="Cambria" pitchFamily="18" charset="0"/>
                <a:ea typeface="Cambria" pitchFamily="18" charset="0"/>
              </a:rPr>
              <a:t>The authenticated retailer can add discount to a particular product with a </a:t>
            </a:r>
            <a:r>
              <a:rPr lang="en-US" dirty="0" err="1">
                <a:latin typeface="Cambria" pitchFamily="18" charset="0"/>
                <a:ea typeface="Cambria" pitchFamily="18" charset="0"/>
              </a:rPr>
              <a:t>particualar</a:t>
            </a:r>
            <a:r>
              <a:rPr lang="en-US" dirty="0">
                <a:latin typeface="Cambria" pitchFamily="18" charset="0"/>
                <a:ea typeface="Cambria" pitchFamily="18" charset="0"/>
              </a:rPr>
              <a:t> time validity. Those data was hashed using the sha256 algorithm and was stored in an </a:t>
            </a:r>
            <a:r>
              <a:rPr lang="en-US" dirty="0" err="1">
                <a:latin typeface="Cambria" pitchFamily="18" charset="0"/>
                <a:ea typeface="Cambria" pitchFamily="18" charset="0"/>
              </a:rPr>
              <a:t>etherum</a:t>
            </a:r>
            <a:r>
              <a:rPr lang="en-US" dirty="0">
                <a:latin typeface="Cambria" pitchFamily="18" charset="0"/>
                <a:ea typeface="Cambria" pitchFamily="18" charset="0"/>
              </a:rPr>
              <a:t> </a:t>
            </a:r>
            <a:r>
              <a:rPr lang="en-US" dirty="0" err="1">
                <a:latin typeface="Cambria" pitchFamily="18" charset="0"/>
                <a:ea typeface="Cambria" pitchFamily="18" charset="0"/>
              </a:rPr>
              <a:t>blockchain</a:t>
            </a:r>
            <a:r>
              <a:rPr lang="en-US" dirty="0">
                <a:latin typeface="Cambria" pitchFamily="18" charset="0"/>
                <a:ea typeface="Cambria" pitchFamily="18" charset="0"/>
              </a:rPr>
              <a:t>. The hashed code will be published and will be shared in various media in the form of a QR code for better representation. Whenever the retailer added a new discount coupon, he can create the respective coupons and will publish it.</a:t>
            </a:r>
          </a:p>
          <a:p>
            <a:r>
              <a:rPr lang="en-US" u="sng" dirty="0">
                <a:latin typeface="Cambria" pitchFamily="18" charset="0"/>
                <a:ea typeface="Cambria" pitchFamily="18" charset="0"/>
              </a:rPr>
              <a:t>Verifying the coupon</a:t>
            </a:r>
          </a:p>
          <a:p>
            <a:pPr marL="0" indent="0">
              <a:buNone/>
            </a:pPr>
            <a:r>
              <a:rPr lang="en-US" dirty="0">
                <a:latin typeface="Cambria" pitchFamily="18" charset="0"/>
                <a:ea typeface="Cambria" pitchFamily="18" charset="0"/>
              </a:rPr>
              <a:t>The customer can bring those coupons and redeem them for a particular product. A coupon will only work for that particular product. All those constraint </a:t>
            </a:r>
            <a:r>
              <a:rPr lang="en-US" dirty="0" err="1">
                <a:latin typeface="Cambria" pitchFamily="18" charset="0"/>
                <a:ea typeface="Cambria" pitchFamily="18" charset="0"/>
              </a:rPr>
              <a:t>checkins</a:t>
            </a:r>
            <a:r>
              <a:rPr lang="en-US" dirty="0">
                <a:latin typeface="Cambria" pitchFamily="18" charset="0"/>
                <a:ea typeface="Cambria" pitchFamily="18" charset="0"/>
              </a:rPr>
              <a:t> was done at the time of verifying. From the scanned QR code, the hash code will be detected, and it will be matched with the particular index of the deployed contract. By using the corresponding index, the aggregate data can be retrieved.</a:t>
            </a:r>
          </a:p>
          <a:p>
            <a:pPr marL="0" indent="0">
              <a:buNone/>
            </a:pPr>
            <a:endParaRPr lang="en-US" dirty="0">
              <a:latin typeface="Cambria" pitchFamily="18" charset="0"/>
              <a:ea typeface="Cambria" pitchFamily="18" charset="0"/>
            </a:endParaRPr>
          </a:p>
        </p:txBody>
      </p:sp>
    </p:spTree>
    <p:extLst>
      <p:ext uri="{BB962C8B-B14F-4D97-AF65-F5344CB8AC3E}">
        <p14:creationId xmlns:p14="http://schemas.microsoft.com/office/powerpoint/2010/main" val="2708508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2819400" y="2743200"/>
            <a:ext cx="5105400" cy="1676400"/>
          </a:xfrm>
        </p:spPr>
        <p:txBody>
          <a:bodyPr>
            <a:normAutofit/>
          </a:bodyPr>
          <a:lstStyle/>
          <a:p>
            <a:pPr marL="0" indent="0">
              <a:buNone/>
            </a:pPr>
            <a:r>
              <a:rPr lang="en-US" sz="4400" dirty="0">
                <a:latin typeface="Cambria" pitchFamily="18" charset="0"/>
                <a:ea typeface="Cambria" pitchFamily="18" charset="0"/>
              </a:rPr>
              <a:t>THANK YOU</a:t>
            </a:r>
          </a:p>
        </p:txBody>
      </p:sp>
    </p:spTree>
    <p:extLst>
      <p:ext uri="{BB962C8B-B14F-4D97-AF65-F5344CB8AC3E}">
        <p14:creationId xmlns:p14="http://schemas.microsoft.com/office/powerpoint/2010/main" val="1483073403"/>
      </p:ext>
    </p:extLst>
  </p:cSld>
  <p:clrMapOvr>
    <a:masterClrMapping/>
  </p:clrMapOvr>
</p:sld>
</file>

<file path=ppt/theme/theme1.xml><?xml version="1.0" encoding="utf-8"?>
<a:theme xmlns:a="http://schemas.openxmlformats.org/drawingml/2006/main" name="Horizon">
  <a:themeElements>
    <a:clrScheme name="Horizon">
      <a:dk1>
        <a:srgbClr val="000000"/>
      </a:dk1>
      <a:lt1>
        <a:srgbClr val="FFFFFF"/>
      </a:lt1>
      <a:dk2>
        <a:srgbClr val="1F2123"/>
      </a:dk2>
      <a:lt2>
        <a:srgbClr val="DC9E1F"/>
      </a:lt2>
      <a:accent1>
        <a:srgbClr val="7E97AD"/>
      </a:accent1>
      <a:accent2>
        <a:srgbClr val="CC8E60"/>
      </a:accent2>
      <a:accent3>
        <a:srgbClr val="7A6A60"/>
      </a:accent3>
      <a:accent4>
        <a:srgbClr val="B4936D"/>
      </a:accent4>
      <a:accent5>
        <a:srgbClr val="67787B"/>
      </a:accent5>
      <a:accent6>
        <a:srgbClr val="9D936F"/>
      </a:accent6>
      <a:hlink>
        <a:srgbClr val="646464"/>
      </a:hlink>
      <a:folHlink>
        <a:srgbClr val="969696"/>
      </a:folHlink>
    </a:clrScheme>
    <a:fontScheme name="Horizon">
      <a:maj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arrow"/>
        <a:ea typeface=""/>
        <a:cs typeface=""/>
        <a:font script="Jpan" typeface="HGｺﾞｼｯｸM"/>
        <a:font script="Hang" typeface="HY얕은샘물M"/>
        <a:font script="Hans" typeface="方正姚体"/>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Horizon">
      <a:fillStyleLst>
        <a:solidFill>
          <a:schemeClr val="phClr"/>
        </a:solidFill>
        <a:gradFill rotWithShape="1">
          <a:gsLst>
            <a:gs pos="0">
              <a:schemeClr val="phClr">
                <a:tint val="83000"/>
                <a:shade val="100000"/>
                <a:satMod val="100000"/>
              </a:schemeClr>
            </a:gs>
            <a:gs pos="100000">
              <a:schemeClr val="phClr">
                <a:tint val="61000"/>
                <a:alpha val="100000"/>
                <a:satMod val="200000"/>
              </a:schemeClr>
            </a:gs>
          </a:gsLst>
          <a:path path="circle">
            <a:fillToRect l="100000" t="100000" r="100000" b="100000"/>
          </a:path>
        </a:gradFill>
        <a:gradFill rotWithShape="1">
          <a:gsLst>
            <a:gs pos="0">
              <a:schemeClr val="phClr">
                <a:shade val="85000"/>
              </a:schemeClr>
            </a:gs>
            <a:gs pos="100000">
              <a:schemeClr val="phClr">
                <a:tint val="90000"/>
                <a:alpha val="100000"/>
                <a:satMod val="20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2924" dir="5400000" rotWithShape="0">
              <a:srgbClr val="000000">
                <a:alpha val="40000"/>
              </a:srgbClr>
            </a:outerShdw>
          </a:effectLst>
        </a:effectStyle>
        <a:effectStyle>
          <a:effectLst>
            <a:outerShdw blurRad="50800" dist="25400" dir="5400000" rotWithShape="0">
              <a:srgbClr val="000000">
                <a:alpha val="40000"/>
              </a:srgbClr>
            </a:outerShdw>
          </a:effectLst>
          <a:scene3d>
            <a:camera prst="orthographicFront">
              <a:rot lat="0" lon="0" rev="0"/>
            </a:camera>
            <a:lightRig rig="flat" dir="t">
              <a:rot lat="0" lon="0" rev="3600000"/>
            </a:lightRig>
          </a:scene3d>
          <a:sp3d prstMaterial="flat">
            <a:bevelT w="34925" h="47625" prst="coolSlant"/>
          </a:sp3d>
        </a:effectStyle>
      </a:effectStyleLst>
      <a:bgFillStyleLst>
        <a:solidFill>
          <a:schemeClr val="phClr"/>
        </a:solidFill>
        <a:gradFill rotWithShape="1">
          <a:gsLst>
            <a:gs pos="0">
              <a:schemeClr val="phClr">
                <a:tint val="96000"/>
                <a:shade val="100000"/>
                <a:alpha val="100000"/>
                <a:satMod val="140000"/>
              </a:schemeClr>
            </a:gs>
            <a:gs pos="31000">
              <a:schemeClr val="phClr">
                <a:tint val="100000"/>
                <a:shade val="90000"/>
                <a:alpha val="100000"/>
              </a:schemeClr>
            </a:gs>
            <a:gs pos="100000">
              <a:schemeClr val="phClr">
                <a:tint val="100000"/>
                <a:shade val="80000"/>
                <a:alpha val="100000"/>
              </a:schemeClr>
            </a:gs>
          </a:gsLst>
          <a:lin ang="5400000" scaled="0"/>
        </a:gradFill>
        <a:gradFill rotWithShape="1">
          <a:gsLst>
            <a:gs pos="0">
              <a:schemeClr val="phClr">
                <a:tint val="96000"/>
                <a:shade val="100000"/>
                <a:alpha val="100000"/>
                <a:satMod val="180000"/>
              </a:schemeClr>
            </a:gs>
            <a:gs pos="41000">
              <a:schemeClr val="phClr">
                <a:tint val="100000"/>
                <a:shade val="100000"/>
                <a:alpha val="100000"/>
                <a:satMod val="150000"/>
              </a:schemeClr>
            </a:gs>
            <a:gs pos="100000">
              <a:schemeClr val="phClr">
                <a:tint val="100000"/>
                <a:shade val="65000"/>
                <a:alpha val="100000"/>
              </a:schemeClr>
            </a:gs>
          </a:gsLst>
          <a:path path="circle">
            <a:fillToRect l="50000" t="8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176</TotalTime>
  <Words>772</Words>
  <Application>Microsoft Office PowerPoint</Application>
  <PresentationFormat>On-screen Show (4:3)</PresentationFormat>
  <Paragraphs>43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Arial Narrow</vt:lpstr>
      <vt:lpstr>Cambria</vt:lpstr>
      <vt:lpstr>Horizon</vt:lpstr>
      <vt:lpstr>SECURE E-COUPON USING BLOCKCHAIN</vt:lpstr>
      <vt:lpstr>RELEVANCE</vt:lpstr>
      <vt:lpstr>Description</vt:lpstr>
      <vt:lpstr>STRUCTURE</vt:lpstr>
      <vt:lpstr>OBJECTIVES</vt:lpstr>
      <vt:lpstr>Existing System</vt:lpstr>
      <vt:lpstr>Proposed system</vt:lpstr>
      <vt:lpstr>Modules</vt:lpstr>
      <vt:lpstr>METHODOLOGY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DRIVING USING IOT</dc:title>
  <dc:creator>hp</dc:creator>
  <cp:lastModifiedBy>Shrishti Clint</cp:lastModifiedBy>
  <cp:revision>15</cp:revision>
  <dcterms:created xsi:type="dcterms:W3CDTF">2022-05-24T13:41:55Z</dcterms:created>
  <dcterms:modified xsi:type="dcterms:W3CDTF">2022-05-25T05:26:37Z</dcterms:modified>
</cp:coreProperties>
</file>